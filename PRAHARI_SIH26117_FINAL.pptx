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03504" y="1481328"/>
            <a:ext cx="6035040" cy="822960"/>
          </a:xfrm>
        </p:spPr>
        <p:txBody>
          <a:bodyPr anchor="t" wrap="square"/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3864"/>
                </a:solidFill>
                <a:latin typeface="Calibri"/>
              </a:rPr>
              <a:t>PRAHARÍ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 i="0">
                <a:solidFill>
                  <a:srgbClr val="10745F"/>
                </a:solidFill>
                <a:latin typeface="Calibri"/>
              </a:rPr>
              <a:t>Sovereign Agentic AI Workbench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50" b="0" i="1">
                <a:solidFill>
                  <a:srgbClr val="5C6B7A"/>
                </a:solidFill>
                <a:latin typeface="Calibri"/>
              </a:rPr>
              <a:t>AI comes to your data — not the other way around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" y="2724912"/>
            <a:ext cx="5943600" cy="393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Problem Statement ID:  </a:t>
            </a:r>
            <a:r>
              <a:rPr sz="1250" b="0" i="0">
                <a:solidFill>
                  <a:srgbClr val="242F3B"/>
                </a:solidFill>
                <a:latin typeface="Calibri"/>
              </a:rPr>
              <a:t>SIH26117</a:t>
            </a:r>
            <a:endParaRPr lang="en-US" dirty="0"/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Problem Statement Title:  </a:t>
            </a:r>
            <a:r>
              <a:rPr sz="1250" b="0" i="0">
                <a:solidFill>
                  <a:srgbClr val="242F3B"/>
                </a:solidFill>
                <a:latin typeface="Calibri"/>
              </a:rPr>
              <a:t>Sovereign On-Premise Agentic AI Workbench using Open-Weight Multimodal LLMs for Confidential Industrial Work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Theme:  </a:t>
            </a:r>
            <a:r>
              <a:rPr sz="1250" b="0" i="0">
                <a:solidFill>
                  <a:srgbClr val="242F3B"/>
                </a:solidFill>
                <a:latin typeface="Calibri"/>
              </a:rPr>
              <a:t>Smart Automation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PS Category:  </a:t>
            </a:r>
            <a:r>
              <a:rPr sz="1250" b="0" i="0">
                <a:solidFill>
                  <a:srgbClr val="242F3B"/>
                </a:solidFill>
                <a:latin typeface="Calibri"/>
              </a:rPr>
              <a:t>Software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Organisation:  </a:t>
            </a:r>
            <a:r>
              <a:rPr sz="1250" b="0" i="0">
                <a:solidFill>
                  <a:srgbClr val="242F3B"/>
                </a:solidFill>
                <a:latin typeface="Calibri"/>
              </a:rPr>
              <a:t>Mangalore Refinery &amp; Petrochemicals Ltd (MRPL)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Team ID:  </a:t>
            </a:r>
            <a:r>
              <a:rPr sz="1250" b="0" i="0">
                <a:solidFill>
                  <a:srgbClr val="242F3B"/>
                </a:solidFill>
                <a:latin typeface="Calibri"/>
              </a:rPr>
              <a:t>SIH26117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Team Name:  </a:t>
            </a:r>
            <a:r>
              <a:rPr sz="1250" b="0" i="0">
                <a:solidFill>
                  <a:srgbClr val="242F3B"/>
                </a:solidFill>
                <a:latin typeface="Calibri"/>
              </a:rPr>
              <a:t>The Nebula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Nebula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280160"/>
            <a:ext cx="6126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F3864"/>
                </a:solidFill>
                <a:latin typeface="Calibri"/>
              </a:rPr>
              <a:t>PRAHARÍ</a:t>
            </a:r>
            <a:r>
              <a:rPr sz="1100" b="0" i="0">
                <a:solidFill>
                  <a:srgbClr val="5C6B7A"/>
                </a:solidFill>
                <a:latin typeface="Calibri"/>
              </a:rPr>
              <a:t>   (Hindi: sentinel / guardian)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 i="1">
                <a:solidFill>
                  <a:srgbClr val="10745F"/>
                </a:solidFill>
                <a:latin typeface="Calibri"/>
              </a:rPr>
              <a:t>AI comes to your data — not the other way around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242F3B"/>
                </a:solidFill>
                <a:latin typeface="Calibri"/>
              </a:rPr>
              <a:t>An air-gapped, agentic industrial AI workbench for confidential MRPL work.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6720840" y="1316736"/>
            <a:ext cx="5074920" cy="914400"/>
          </a:xfrm>
          <a:prstGeom prst="roundRect">
            <a:avLst>
              <a:gd name="adj" fmla="val 5500"/>
            </a:avLst>
          </a:prstGeom>
          <a:solidFill>
            <a:srgbClr val="E3F2ED"/>
          </a:solidFill>
          <a:ln w="12700">
            <a:solidFill>
              <a:srgbClr val="10745F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0745F"/>
                </a:solidFill>
                <a:latin typeface="Calibri"/>
              </a:rPr>
              <a:t>NOT A CHATBOT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242F3B"/>
                </a:solidFill>
                <a:latin typeface="Calibri"/>
              </a:rPr>
              <a:t>Plans a task · routes the right local model · calls approved tools · grounds every claim in your SOPs · runs code in a sandbox · returns a reviewed file — offline.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2340864"/>
            <a:ext cx="11384280" cy="457200"/>
          </a:xfrm>
          <a:prstGeom prst="roundRect">
            <a:avLst>
              <a:gd name="adj" fmla="val 5500"/>
            </a:avLst>
          </a:prstGeom>
          <a:solidFill>
            <a:srgbClr val="F2F5F9"/>
          </a:solidFill>
          <a:ln w="9525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The trade-off today:  </a:t>
            </a:r>
            <a:r>
              <a:rPr sz="1150" b="0" i="0">
                <a:solidFill>
                  <a:srgbClr val="242F3B"/>
                </a:solidFill>
                <a:latin typeface="Calibri"/>
              </a:rPr>
              <a:t>MRPL must forgo modern AI on confidential inspection reports, P&amp;IDs &amp; SOPs — or risk that data leaving the perimeter via public cloud AI.  PRAHARÍ removes it.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1480" y="2926080"/>
            <a:ext cx="11384280" cy="310896"/>
          </a:xfrm>
          <a:prstGeom prst="roundRect">
            <a:avLst>
              <a:gd name="adj" fmla="val 5500"/>
            </a:avLst>
          </a:prstGeom>
          <a:solidFill>
            <a:srgbClr val="FAEBE8"/>
          </a:solidFill>
          <a:ln w="9525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548640" y="2962656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EGRESS DENIED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2240280" y="2926080"/>
            <a:ext cx="9418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23A2E"/>
                </a:solidFill>
                <a:latin typeface="Calibri"/>
              </a:rPr>
              <a:t>Outside the organisation — never called:  </a:t>
            </a:r>
            <a:r>
              <a:rPr sz="1000" b="0" i="0">
                <a:solidFill>
                  <a:srgbClr val="B23A2E"/>
                </a:solidFill>
                <a:latin typeface="Calibri"/>
              </a:rPr>
              <a:t>Cloud LLM APIs · SaaS copilots · External OCR · Cloud vector DBs · 3rd-party telemetry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11480" y="3328416"/>
            <a:ext cx="11384280" cy="1371600"/>
          </a:xfrm>
          <a:prstGeom prst="roundRect">
            <a:avLst>
              <a:gd name="adj" fmla="val 5500"/>
            </a:avLst>
          </a:prstGeom>
          <a:solidFill>
            <a:srgbClr val="F0F8F5"/>
          </a:solidFill>
          <a:ln w="15875">
            <a:solidFill>
              <a:srgbClr val="10745F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658368" y="3218688"/>
            <a:ext cx="4709160" cy="274320"/>
          </a:xfrm>
          <a:prstGeom prst="roundRect">
            <a:avLst>
              <a:gd name="adj" fmla="val 50000"/>
            </a:avLst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ON-PREMISE TRUST BOUNDARY · SINGLE AIR-GAPPED WORKSTATION</a:t>
            </a:r>
          </a:p>
        </p:txBody>
      </p:sp>
      <p:sp>
        <p:nvSpPr>
          <p:cNvPr id="15370" name="Chevron 15369"/>
          <p:cNvSpPr/>
          <p:nvPr/>
        </p:nvSpPr>
        <p:spPr>
          <a:xfrm>
            <a:off x="749808" y="3639312"/>
            <a:ext cx="2542032" cy="548640"/>
          </a:xfrm>
          <a:prstGeom prst="chevron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CONFIDENTIAL DATA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704087" y="4215384"/>
            <a:ext cx="2633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Calibri"/>
              </a:rPr>
              <a:t>scanned reports · P&amp;IDs · SOPs · sheets · code</a:t>
            </a:r>
          </a:p>
        </p:txBody>
      </p:sp>
      <p:sp>
        <p:nvSpPr>
          <p:cNvPr id="15372" name="Chevron 15371"/>
          <p:cNvSpPr/>
          <p:nvPr/>
        </p:nvSpPr>
        <p:spPr>
          <a:xfrm>
            <a:off x="3547871" y="3639312"/>
            <a:ext cx="2542032" cy="548640"/>
          </a:xfrm>
          <a:prstGeom prst="chevron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LOCAL INTELLIGENCE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3502151" y="4215384"/>
            <a:ext cx="2633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Calibri"/>
              </a:rPr>
              <a:t>open-weight models routed on-device (Ollama)</a:t>
            </a:r>
          </a:p>
        </p:txBody>
      </p:sp>
      <p:sp>
        <p:nvSpPr>
          <p:cNvPr id="15374" name="Chevron 15373"/>
          <p:cNvSpPr/>
          <p:nvPr/>
        </p:nvSpPr>
        <p:spPr>
          <a:xfrm>
            <a:off x="6345936" y="3639312"/>
            <a:ext cx="2542032" cy="548640"/>
          </a:xfrm>
          <a:prstGeom prst="chevron">
            <a:avLst>
              <a:gd name="adj" fmla="val 50000"/>
            </a:avLst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AGENTIC ACTION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6300216" y="4215384"/>
            <a:ext cx="2633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Calibri"/>
              </a:rPr>
              <a:t>plan · route · tools · RAG · sandbox · validate</a:t>
            </a:r>
          </a:p>
        </p:txBody>
      </p:sp>
      <p:sp>
        <p:nvSpPr>
          <p:cNvPr id="15376" name="Chevron 15375"/>
          <p:cNvSpPr/>
          <p:nvPr/>
        </p:nvSpPr>
        <p:spPr>
          <a:xfrm>
            <a:off x="9144000" y="3639312"/>
            <a:ext cx="2542032" cy="548640"/>
          </a:xfrm>
          <a:prstGeom prst="chevron">
            <a:avLst>
              <a:gd name="adj" fmla="val 50000"/>
            </a:avLst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TRUSTED DELIVERABLE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9098280" y="4215384"/>
            <a:ext cx="2633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Calibri"/>
              </a:rPr>
              <a:t>cited DOCX / XLSX draft — for human review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548640" y="4544568"/>
            <a:ext cx="11109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1">
                <a:solidFill>
                  <a:srgbClr val="10745F"/>
                </a:solidFill>
                <a:latin typeface="Calibri"/>
              </a:rPr>
              <a:t>ALL LOCAL — data · models · tools · knowledge stay on the box, every action audited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411480" y="4828032"/>
            <a:ext cx="3675887" cy="13167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Oval 15379"/>
          <p:cNvSpPr/>
          <p:nvPr/>
        </p:nvSpPr>
        <p:spPr>
          <a:xfrm>
            <a:off x="557784" y="4974336"/>
            <a:ext cx="329184" cy="329184"/>
          </a:xfrm>
          <a:prstGeom prst="ellipse">
            <a:avLst/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978408" y="4965192"/>
            <a:ext cx="2990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745F"/>
                </a:solidFill>
                <a:latin typeface="Calibri"/>
              </a:rPr>
              <a:t>Resource-aware model router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594360" y="5376672"/>
            <a:ext cx="33101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 i="0">
                <a:solidFill>
                  <a:srgbClr val="242F3B"/>
                </a:solidFill>
                <a:latin typeface="Calibri"/>
              </a:rPr>
              <a:t>One mid-range GPU can't hold every model — so the agent loads the best-fit local model per task. The wall that separates us from “just Ollama.”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4265676" y="4828032"/>
            <a:ext cx="3675887" cy="13167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Oval 15383"/>
          <p:cNvSpPr/>
          <p:nvPr/>
        </p:nvSpPr>
        <p:spPr>
          <a:xfrm>
            <a:off x="4411980" y="4974336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832604" y="4965192"/>
            <a:ext cx="2990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Calibri"/>
              </a:rPr>
              <a:t>Genuinely agentic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4448556" y="5376672"/>
            <a:ext cx="33101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 i="0">
                <a:solidFill>
                  <a:srgbClr val="242F3B"/>
                </a:solidFill>
                <a:latin typeface="Calibri"/>
              </a:rPr>
              <a:t>Plans, calls tools, checks its own work and replans — every step visible on a live timeline. The coding demo fails a test, then fixes itself.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8119871" y="4828032"/>
            <a:ext cx="3675887" cy="13167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Oval 15387"/>
          <p:cNvSpPr/>
          <p:nvPr/>
        </p:nvSpPr>
        <p:spPr>
          <a:xfrm>
            <a:off x="8266175" y="4974336"/>
            <a:ext cx="329184" cy="329184"/>
          </a:xfrm>
          <a:prstGeom prst="ellipse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8686799" y="4965192"/>
            <a:ext cx="2990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9770B"/>
                </a:solidFill>
                <a:latin typeface="Calibri"/>
              </a:rPr>
              <a:t>Provable sovereignty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8302751" y="5376672"/>
            <a:ext cx="33101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 i="0">
                <a:solidFill>
                  <a:srgbClr val="242F3B"/>
                </a:solidFill>
                <a:latin typeface="Calibri"/>
              </a:rPr>
              <a:t>Not asserted — proven live: pull the network cable, an egress-canary call is BLOCKED, and a real network monitor shows zero external connections.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Nebula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43584"/>
            <a:ext cx="11384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C6B7A"/>
                </a:solidFill>
                <a:latin typeface="Calibri"/>
              </a:rPr>
              <a:t>Six local layers · one bounded agent loop · a deterministic model router — technologies and end-to-end method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810512"/>
            <a:ext cx="6858000" cy="2761488"/>
          </a:xfrm>
          <a:prstGeom prst="roundRect">
            <a:avLst>
              <a:gd name="adj" fmla="val 3000"/>
            </a:avLst>
          </a:prstGeom>
          <a:solidFill>
            <a:srgbClr val="F0F8F5"/>
          </a:solidFill>
          <a:ln w="15875">
            <a:solidFill>
              <a:srgbClr val="10745F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1700784"/>
            <a:ext cx="3063240" cy="256032"/>
          </a:xfrm>
          <a:prstGeom prst="roundRect">
            <a:avLst>
              <a:gd name="adj" fmla="val 50000"/>
            </a:avLst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ON-PREMISE TRUST BOUNDARY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22392" y="1700784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EGRESS BLOCKED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57784" y="2066543"/>
            <a:ext cx="6565392" cy="457200"/>
          </a:xfrm>
          <a:prstGeom prst="roundRect">
            <a:avLst>
              <a:gd name="adj" fmla="val 7000"/>
            </a:avLst>
          </a:prstGeom>
          <a:solidFill>
            <a:srgbClr val="F1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85800" y="2066543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 i="0">
                <a:solidFill>
                  <a:srgbClr val="0070C0"/>
                </a:solidFill>
                <a:latin typeface="Calibri"/>
              </a:rPr>
              <a:t>USER
INTERFACE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404872" y="2066543"/>
            <a:ext cx="460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42F3B"/>
                </a:solidFill>
                <a:latin typeface="Calibri"/>
              </a:rPr>
              <a:t>Next.js ops console — task input · uploads · live agent timeline · sources &amp; citations · artifacts · security banner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57784" y="2560320"/>
            <a:ext cx="6565392" cy="457200"/>
          </a:xfrm>
          <a:prstGeom prst="roundRect">
            <a:avLst>
              <a:gd name="adj" fmla="val 7000"/>
            </a:avLst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85800" y="2560320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 i="0">
                <a:solidFill>
                  <a:srgbClr val="2E75B6"/>
                </a:solidFill>
                <a:latin typeface="Calibri"/>
              </a:rPr>
              <a:t>CONTROL PLANE
FastAPI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404872" y="2560320"/>
            <a:ext cx="460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42F3B"/>
                </a:solidFill>
                <a:latin typeface="Calibri"/>
              </a:rPr>
              <a:t>intent classifier → model router → agent state machine → tool gateway (allow-list) → policy &amp; audit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57784" y="3054096"/>
            <a:ext cx="6565392" cy="1005840"/>
          </a:xfrm>
          <a:prstGeom prst="roundRect">
            <a:avLst>
              <a:gd name="adj" fmla="val 7000"/>
            </a:avLst>
          </a:prstGeom>
          <a:solidFill>
            <a:srgbClr val="E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85800" y="3054096"/>
            <a:ext cx="162763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 i="0">
                <a:solidFill>
                  <a:srgbClr val="10745F"/>
                </a:solidFill>
                <a:latin typeface="Calibri"/>
              </a:rPr>
              <a:t>DATA &amp;
EXECUTION
PLANE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368296" y="3108960"/>
            <a:ext cx="2304287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2459736" y="3136391"/>
            <a:ext cx="21214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 b="1" i="0">
                <a:solidFill>
                  <a:srgbClr val="1F3864"/>
                </a:solidFill>
                <a:latin typeface="Calibri"/>
              </a:rPr>
              <a:t>MODEL RUNTIME</a:t>
            </a:r>
          </a:p>
          <a:p>
            <a:pPr algn="l">
              <a:lnSpc>
                <a:spcPct val="88000"/>
              </a:lnSpc>
              <a:spcBef>
                <a:spcPts val="100"/>
              </a:spcBef>
              <a:spcAft>
                <a:spcPts val="0"/>
              </a:spcAft>
            </a:pPr>
            <a:r>
              <a:rPr sz="760" b="0" i="0">
                <a:solidFill>
                  <a:srgbClr val="242F3B"/>
                </a:solidFill>
                <a:latin typeface="Calibri"/>
              </a:rPr>
              <a:t>Ollama hot-swap — Qwen2.5-7B · Coder-7B · VL-7B · bge-m3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818888" y="3108960"/>
            <a:ext cx="2304287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4910327" y="3136391"/>
            <a:ext cx="21214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 b="1" i="0">
                <a:solidFill>
                  <a:srgbClr val="1F3864"/>
                </a:solidFill>
                <a:latin typeface="Calibri"/>
              </a:rPr>
              <a:t>KNOWLEDGE · RAG</a:t>
            </a:r>
          </a:p>
          <a:p>
            <a:pPr algn="l">
              <a:lnSpc>
                <a:spcPct val="88000"/>
              </a:lnSpc>
              <a:spcBef>
                <a:spcPts val="100"/>
              </a:spcBef>
              <a:spcAft>
                <a:spcPts val="0"/>
              </a:spcAft>
            </a:pPr>
            <a:r>
              <a:rPr sz="760" b="0" i="0">
                <a:solidFill>
                  <a:srgbClr val="242F3B"/>
                </a:solidFill>
                <a:latin typeface="Calibri"/>
              </a:rPr>
              <a:t>PaddleOCR+Tesseract · Qdrant hybrid · citations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368296" y="3657600"/>
            <a:ext cx="2304287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2459736" y="3685032"/>
            <a:ext cx="21214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 b="1" i="0">
                <a:solidFill>
                  <a:srgbClr val="1F3864"/>
                </a:solidFill>
                <a:latin typeface="Calibri"/>
              </a:rPr>
              <a:t>LOCAL TOOLS</a:t>
            </a:r>
          </a:p>
          <a:p>
            <a:pPr algn="l">
              <a:lnSpc>
                <a:spcPct val="88000"/>
              </a:lnSpc>
              <a:spcBef>
                <a:spcPts val="100"/>
              </a:spcBef>
              <a:spcAft>
                <a:spcPts val="0"/>
              </a:spcAft>
            </a:pPr>
            <a:r>
              <a:rPr sz="760" b="0" i="0">
                <a:solidFill>
                  <a:srgbClr val="242F3B"/>
                </a:solidFill>
                <a:latin typeface="Calibri"/>
              </a:rPr>
              <a:t>deny-by-default registry: read · parse · calc · write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818888" y="3657600"/>
            <a:ext cx="2304287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4910327" y="3685032"/>
            <a:ext cx="212140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 b="1" i="0">
                <a:solidFill>
                  <a:srgbClr val="1F3864"/>
                </a:solidFill>
                <a:latin typeface="Calibri"/>
              </a:rPr>
              <a:t>SANDBOX</a:t>
            </a:r>
          </a:p>
          <a:p>
            <a:pPr algn="l">
              <a:lnSpc>
                <a:spcPct val="88000"/>
              </a:lnSpc>
              <a:spcBef>
                <a:spcPts val="100"/>
              </a:spcBef>
              <a:spcAft>
                <a:spcPts val="0"/>
              </a:spcAft>
            </a:pPr>
            <a:r>
              <a:rPr sz="760" b="0" i="0">
                <a:solidFill>
                  <a:srgbClr val="242F3B"/>
                </a:solidFill>
                <a:latin typeface="Calibri"/>
              </a:rPr>
              <a:t>Docker net=none · dropped caps · isolated code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57784" y="4096512"/>
            <a:ext cx="6565392" cy="402336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85800" y="4096512"/>
            <a:ext cx="16276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1" i="0">
                <a:solidFill>
                  <a:srgbClr val="5C6B7A"/>
                </a:solidFill>
                <a:latin typeface="Calibri"/>
              </a:rPr>
              <a:t>OBSERVABILITY
&amp; STORAGE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2404872" y="4096512"/>
            <a:ext cx="46085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 i="0">
                <a:solidFill>
                  <a:srgbClr val="242F3B"/>
                </a:solidFill>
                <a:latin typeface="Calibri"/>
              </a:rPr>
              <a:t>hash-chained audit log · live network monitor (real ss / tcpdump) · local ./data — nothing leaves the box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406640" y="1810512"/>
            <a:ext cx="4407408" cy="1225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7571231" y="1883664"/>
            <a:ext cx="40782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070C0"/>
                </a:solidFill>
                <a:latin typeface="Calibri"/>
              </a:rPr>
              <a:t>MODEL ROUTER</a:t>
            </a:r>
            <a:r>
              <a:rPr sz="900" b="0" i="0">
                <a:solidFill>
                  <a:srgbClr val="5C6B7A"/>
                </a:solidFill>
                <a:latin typeface="Calibri"/>
              </a:rPr>
              <a:t>  · deterministic, not learned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image / scan → VL   ·   code → Coder   ·   text → 7B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242F3B"/>
                </a:solidFill>
                <a:latin typeface="Calibri"/>
              </a:rPr>
              <a:t>scored on capability · modality · VRAM · latency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 i="1">
                <a:solidFill>
                  <a:srgbClr val="10745F"/>
                </a:solidFill>
                <a:latin typeface="Calibri"/>
              </a:rPr>
              <a:t>add a model = one registry entry + a pull — no code change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7406640" y="3127248"/>
            <a:ext cx="4407408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0745F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7571231" y="3200400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0745F"/>
                </a:solidFill>
                <a:latin typeface="Calibri"/>
              </a:rPr>
              <a:t>AGENT CONTROL LOOP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589519" y="352958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1  RECEIVE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619488" y="352958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5  EXECUTE TOOL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589519" y="37444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2  CLASSIFY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9619488" y="37444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6  OBSERVE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589519" y="39593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3  PLAN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9619488" y="39593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7  VALIDATE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7589519" y="4174235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4  SELECT MODEL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9619488" y="4174235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8  ARTIFACT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7571231" y="4370832"/>
            <a:ext cx="40782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B9770B"/>
                </a:solidFill>
                <a:latin typeface="Calibri"/>
              </a:rPr>
              <a:t>↻ bounded: </a:t>
            </a:r>
            <a:r>
              <a:rPr sz="830" b="0" i="0">
                <a:solidFill>
                  <a:srgbClr val="242F3B"/>
                </a:solidFill>
                <a:latin typeface="Calibri"/>
              </a:rPr>
              <a:t>≤12 steps · ≤2 replans · no raw shell · human approval to finalize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11480" y="4663440"/>
            <a:ext cx="11384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END-TO-END METHOD:  </a:t>
            </a:r>
            <a:r>
              <a:rPr sz="1000" b="0" i="0">
                <a:solidFill>
                  <a:srgbClr val="242F3B"/>
                </a:solidFill>
                <a:latin typeface="Calibri"/>
              </a:rPr>
              <a:t>a scanned inspection report becomes a cited, human-approved DOCX note — fully offline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411480" y="4937760"/>
            <a:ext cx="1287018" cy="566928"/>
          </a:xfrm>
          <a:prstGeom prst="roundRect">
            <a:avLst>
              <a:gd name="adj" fmla="val 10000"/>
            </a:avLst>
          </a:prstGeom>
          <a:solidFill>
            <a:srgbClr val="E7F0FA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Calibri"/>
              </a:rPr>
              <a:t>1  Upload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30" b="0" i="0">
                <a:solidFill>
                  <a:srgbClr val="5C6B7A"/>
                </a:solidFill>
                <a:latin typeface="Calibri"/>
              </a:rPr>
              <a:t>scan / doc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1853945" y="4937760"/>
            <a:ext cx="1287018" cy="566928"/>
          </a:xfrm>
          <a:prstGeom prst="roundRect">
            <a:avLst>
              <a:gd name="adj" fmla="val 10000"/>
            </a:avLst>
          </a:prstGeom>
          <a:solidFill>
            <a:srgbClr val="E7F0FA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Calibri"/>
              </a:rPr>
              <a:t>2  Perceive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30" b="0" i="0">
                <a:solidFill>
                  <a:srgbClr val="5C6B7A"/>
                </a:solidFill>
                <a:latin typeface="Calibri"/>
              </a:rPr>
              <a:t>OCR · VL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3296412" y="4937760"/>
            <a:ext cx="1287018" cy="566928"/>
          </a:xfrm>
          <a:prstGeom prst="roundRect">
            <a:avLst>
              <a:gd name="adj" fmla="val 10000"/>
            </a:avLst>
          </a:prstGeom>
          <a:solidFill>
            <a:srgbClr val="E7F0FA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Calibri"/>
              </a:rPr>
              <a:t>3  Extract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30" b="0" i="0">
                <a:solidFill>
                  <a:srgbClr val="5C6B7A"/>
                </a:solidFill>
                <a:latin typeface="Calibri"/>
              </a:rPr>
              <a:t>findings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4738878" y="4937760"/>
            <a:ext cx="1287018" cy="566928"/>
          </a:xfrm>
          <a:prstGeom prst="roundRect">
            <a:avLst>
              <a:gd name="adj" fmla="val 10000"/>
            </a:avLst>
          </a:prstGeom>
          <a:solidFill>
            <a:srgbClr val="E7F0FA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Calibri"/>
              </a:rPr>
              <a:t>4  Retrieve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30" b="0" i="0">
                <a:solidFill>
                  <a:srgbClr val="5C6B7A"/>
                </a:solidFill>
                <a:latin typeface="Calibri"/>
              </a:rPr>
              <a:t>SOP + cite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6181344" y="4937760"/>
            <a:ext cx="1287018" cy="566928"/>
          </a:xfrm>
          <a:prstGeom prst="roundRect">
            <a:avLst>
              <a:gd name="adj" fmla="val 10000"/>
            </a:avLst>
          </a:prstGeom>
          <a:solidFill>
            <a:srgbClr val="E7F0FA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Calibri"/>
              </a:rPr>
              <a:t>5  Analyze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30" b="0" i="0">
                <a:solidFill>
                  <a:srgbClr val="5C6B7A"/>
                </a:solidFill>
                <a:latin typeface="Calibri"/>
              </a:rPr>
              <a:t>+ calculate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7623809" y="4937760"/>
            <a:ext cx="1287018" cy="566928"/>
          </a:xfrm>
          <a:prstGeom prst="roundRect">
            <a:avLst>
              <a:gd name="adj" fmla="val 10000"/>
            </a:avLst>
          </a:prstGeom>
          <a:solidFill>
            <a:srgbClr val="E7F0FA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Calibri"/>
              </a:rPr>
              <a:t>6  Validate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30" b="0" i="0">
                <a:solidFill>
                  <a:srgbClr val="5C6B7A"/>
                </a:solidFill>
                <a:latin typeface="Calibri"/>
              </a:rPr>
              <a:t>checks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9066276" y="4937760"/>
            <a:ext cx="1287018" cy="566928"/>
          </a:xfrm>
          <a:prstGeom prst="roundRect">
            <a:avLst>
              <a:gd name="adj" fmla="val 10000"/>
            </a:avLst>
          </a:prstGeom>
          <a:solidFill>
            <a:srgbClr val="E7F0FA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Calibri"/>
              </a:rPr>
              <a:t>7  Draft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30" b="0" i="0">
                <a:solidFill>
                  <a:srgbClr val="5C6B7A"/>
                </a:solidFill>
                <a:latin typeface="Calibri"/>
              </a:rPr>
              <a:t>DOCX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10508741" y="4937760"/>
            <a:ext cx="1287018" cy="566928"/>
          </a:xfrm>
          <a:prstGeom prst="roundRect">
            <a:avLst>
              <a:gd name="adj" fmla="val 10000"/>
            </a:avLst>
          </a:prstGeom>
          <a:solidFill>
            <a:srgbClr val="E7F0FA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Calibri"/>
              </a:rPr>
              <a:t>8  Human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30" b="0" i="0">
                <a:solidFill>
                  <a:srgbClr val="5C6B7A"/>
                </a:solidFill>
                <a:latin typeface="Calibri"/>
              </a:rPr>
              <a:t>review · approve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1709470" y="5221224"/>
            <a:ext cx="133503" cy="0"/>
          </a:xfrm>
          <a:prstGeom prst="line">
            <a:avLst/>
          </a:prstGeom>
          <a:ln w="1778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6" name="Connector 17455"/>
          <p:cNvCxnSpPr/>
          <p:nvPr/>
        </p:nvCxnSpPr>
        <p:spPr>
          <a:xfrm>
            <a:off x="3151936" y="5221224"/>
            <a:ext cx="133503" cy="0"/>
          </a:xfrm>
          <a:prstGeom prst="line">
            <a:avLst/>
          </a:prstGeom>
          <a:ln w="1778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7" name="Connector 17456"/>
          <p:cNvCxnSpPr/>
          <p:nvPr/>
        </p:nvCxnSpPr>
        <p:spPr>
          <a:xfrm>
            <a:off x="4594402" y="5221224"/>
            <a:ext cx="133503" cy="0"/>
          </a:xfrm>
          <a:prstGeom prst="line">
            <a:avLst/>
          </a:prstGeom>
          <a:ln w="1778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8" name="Connector 17457"/>
          <p:cNvCxnSpPr/>
          <p:nvPr/>
        </p:nvCxnSpPr>
        <p:spPr>
          <a:xfrm>
            <a:off x="6036868" y="5221224"/>
            <a:ext cx="133503" cy="0"/>
          </a:xfrm>
          <a:prstGeom prst="line">
            <a:avLst/>
          </a:prstGeom>
          <a:ln w="1778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9" name="Connector 17458"/>
          <p:cNvCxnSpPr/>
          <p:nvPr/>
        </p:nvCxnSpPr>
        <p:spPr>
          <a:xfrm>
            <a:off x="7479334" y="5221224"/>
            <a:ext cx="133503" cy="0"/>
          </a:xfrm>
          <a:prstGeom prst="line">
            <a:avLst/>
          </a:prstGeom>
          <a:ln w="1778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0" name="Connector 17459"/>
          <p:cNvCxnSpPr/>
          <p:nvPr/>
        </p:nvCxnSpPr>
        <p:spPr>
          <a:xfrm>
            <a:off x="8921800" y="5221224"/>
            <a:ext cx="133503" cy="0"/>
          </a:xfrm>
          <a:prstGeom prst="line">
            <a:avLst/>
          </a:prstGeom>
          <a:ln w="1778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1" name="Connector 17460"/>
          <p:cNvCxnSpPr/>
          <p:nvPr/>
        </p:nvCxnSpPr>
        <p:spPr>
          <a:xfrm>
            <a:off x="10364266" y="5221224"/>
            <a:ext cx="133503" cy="0"/>
          </a:xfrm>
          <a:prstGeom prst="line">
            <a:avLst/>
          </a:prstGeom>
          <a:ln w="1778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2" name="Rounded Rectangle 17461"/>
          <p:cNvSpPr/>
          <p:nvPr/>
        </p:nvSpPr>
        <p:spPr>
          <a:xfrm>
            <a:off x="411480" y="5669280"/>
            <a:ext cx="11384280" cy="54864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0745F"/>
                </a:solidFill>
                <a:latin typeface="Calibri"/>
              </a:rPr>
              <a:t>STACK (all local · open-source):  </a:t>
            </a:r>
            <a:r>
              <a:rPr sz="950" b="0" i="0">
                <a:solidFill>
                  <a:srgbClr val="242F3B"/>
                </a:solidFill>
                <a:latin typeface="Calibri"/>
              </a:rPr>
              <a:t>Ollama · Qwen2.5-7B / Coder-7B / VL-7B · bge-m3 · Qdrant · PaddleOCR + Tesseract · FastAPI · Next.js / React / Tailwind · Docker (net=none) · SQLite ·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&amp;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Nebula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43584"/>
            <a:ext cx="11384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C6B7A"/>
                </a:solidFill>
                <a:latin typeface="Calibri"/>
              </a:rPr>
              <a:t>Buildable in 36 hours on one mid-range GPU — open tools, phased scope, named risks with mitigations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755648"/>
            <a:ext cx="11384280" cy="21396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1645920"/>
            <a:ext cx="3931920" cy="25603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36-HOUR BUILD PLAN  ·  parallel workstreams, approximate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2084831" y="2084831"/>
            <a:ext cx="0" cy="1682497"/>
          </a:xfrm>
          <a:prstGeom prst="line">
            <a:avLst/>
          </a:prstGeom>
          <a:ln w="9525">
            <a:solidFill>
              <a:srgbClr val="CBD6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TextBox 17413"/>
          <p:cNvSpPr txBox="1"/>
          <p:nvPr/>
        </p:nvSpPr>
        <p:spPr>
          <a:xfrm>
            <a:off x="1810511" y="193852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C6B7A"/>
                </a:solidFill>
                <a:latin typeface="Calibri"/>
              </a:rPr>
              <a:t>H0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3675887" y="2084831"/>
            <a:ext cx="0" cy="1682497"/>
          </a:xfrm>
          <a:prstGeom prst="line">
            <a:avLst/>
          </a:prstGeom>
          <a:ln w="9525">
            <a:solidFill>
              <a:srgbClr val="CBD6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3401568" y="193852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C6B7A"/>
                </a:solidFill>
                <a:latin typeface="Calibri"/>
              </a:rPr>
              <a:t>H6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5266944" y="2084831"/>
            <a:ext cx="0" cy="1682497"/>
          </a:xfrm>
          <a:prstGeom prst="line">
            <a:avLst/>
          </a:prstGeom>
          <a:ln w="9525">
            <a:solidFill>
              <a:srgbClr val="CBD6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4992624" y="193852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C6B7A"/>
                </a:solidFill>
                <a:latin typeface="Calibri"/>
              </a:rPr>
              <a:t>H12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6858000" y="2084831"/>
            <a:ext cx="0" cy="1682497"/>
          </a:xfrm>
          <a:prstGeom prst="line">
            <a:avLst/>
          </a:prstGeom>
          <a:ln w="9525">
            <a:solidFill>
              <a:srgbClr val="CBD6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/>
          <p:cNvSpPr txBox="1"/>
          <p:nvPr/>
        </p:nvSpPr>
        <p:spPr>
          <a:xfrm>
            <a:off x="6583680" y="193852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C6B7A"/>
                </a:solidFill>
                <a:latin typeface="Calibri"/>
              </a:rPr>
              <a:t>H18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8449056" y="2084831"/>
            <a:ext cx="0" cy="1682497"/>
          </a:xfrm>
          <a:prstGeom prst="line">
            <a:avLst/>
          </a:prstGeom>
          <a:ln w="9525">
            <a:solidFill>
              <a:srgbClr val="CBD6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8174736" y="193852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C6B7A"/>
                </a:solidFill>
                <a:latin typeface="Calibri"/>
              </a:rPr>
              <a:t>H24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10040112" y="2084831"/>
            <a:ext cx="0" cy="1682497"/>
          </a:xfrm>
          <a:prstGeom prst="line">
            <a:avLst/>
          </a:prstGeom>
          <a:ln w="9525">
            <a:solidFill>
              <a:srgbClr val="CBD6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9765792" y="193852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C6B7A"/>
                </a:solidFill>
                <a:latin typeface="Calibri"/>
              </a:rPr>
              <a:t>H30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11631168" y="2084831"/>
            <a:ext cx="0" cy="1682497"/>
          </a:xfrm>
          <a:prstGeom prst="line">
            <a:avLst/>
          </a:prstGeom>
          <a:ln w="9525">
            <a:solidFill>
              <a:srgbClr val="CBD6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TextBox 17425"/>
          <p:cNvSpPr txBox="1"/>
          <p:nvPr/>
        </p:nvSpPr>
        <p:spPr>
          <a:xfrm>
            <a:off x="11356848" y="193852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C6B7A"/>
                </a:solidFill>
                <a:latin typeface="Calibri"/>
              </a:rPr>
              <a:t>H36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48640" y="22128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1F3864"/>
                </a:solidFill>
                <a:latin typeface="Calibri"/>
              </a:rPr>
              <a:t>Backend &amp; Agent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084831" y="2240279"/>
            <a:ext cx="795528" cy="219456"/>
          </a:xfrm>
          <a:prstGeom prst="roundRect">
            <a:avLst>
              <a:gd name="adj" fmla="val 2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2880360" y="2240279"/>
            <a:ext cx="1856231" cy="219456"/>
          </a:xfrm>
          <a:prstGeom prst="roundRect">
            <a:avLst>
              <a:gd name="adj" fmla="val 2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agent loop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736592" y="2240279"/>
            <a:ext cx="1591056" cy="219456"/>
          </a:xfrm>
          <a:prstGeom prst="roundRect">
            <a:avLst>
              <a:gd name="adj" fmla="val 2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10040112" y="2240279"/>
            <a:ext cx="1591056" cy="219456"/>
          </a:xfrm>
          <a:prstGeom prst="roundRect">
            <a:avLst>
              <a:gd name="adj" fmla="val 2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integrate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48640" y="2514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0070C0"/>
                </a:solidFill>
                <a:latin typeface="Calibri"/>
              </a:rPr>
              <a:t>Model &amp; Router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2084831" y="2542032"/>
            <a:ext cx="795528" cy="219456"/>
          </a:xfrm>
          <a:prstGeom prst="roundRect">
            <a:avLst>
              <a:gd name="adj" fmla="val 2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2880360" y="2542032"/>
            <a:ext cx="1060704" cy="219456"/>
          </a:xfrm>
          <a:prstGeom prst="roundRect">
            <a:avLst>
              <a:gd name="adj" fmla="val 2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router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10305288" y="2542032"/>
            <a:ext cx="795527" cy="219456"/>
          </a:xfrm>
          <a:prstGeom prst="roundRect">
            <a:avLst>
              <a:gd name="adj" fmla="val 2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548640" y="28163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10745F"/>
                </a:solidFill>
                <a:latin typeface="Calibri"/>
              </a:rPr>
              <a:t>RAG &amp; Vision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880360" y="2843784"/>
            <a:ext cx="1856231" cy="219456"/>
          </a:xfrm>
          <a:prstGeom prst="roundRect">
            <a:avLst>
              <a:gd name="adj" fmla="val 28000"/>
            </a:avLst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local RAG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736592" y="2843784"/>
            <a:ext cx="1591056" cy="219456"/>
          </a:xfrm>
          <a:prstGeom prst="roundRect">
            <a:avLst>
              <a:gd name="adj" fmla="val 28000"/>
            </a:avLst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OCR · vision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48640" y="3118103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2E75B6"/>
                </a:solidFill>
                <a:latin typeface="Calibri"/>
              </a:rPr>
              <a:t>Frontend &amp; UX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2084831" y="3145535"/>
            <a:ext cx="1591055" cy="219456"/>
          </a:xfrm>
          <a:prstGeom prst="roundRect">
            <a:avLst>
              <a:gd name="adj" fmla="val 2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skeleton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675887" y="3145535"/>
            <a:ext cx="4242816" cy="219456"/>
          </a:xfrm>
          <a:prstGeom prst="roundRect">
            <a:avLst>
              <a:gd name="adj" fmla="val 2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workbench + timeline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548640" y="34198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B9770B"/>
                </a:solidFill>
                <a:latin typeface="Calibri"/>
              </a:rPr>
              <a:t>Security &amp; Proof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2615184" y="3447287"/>
            <a:ext cx="1060703" cy="219456"/>
          </a:xfrm>
          <a:prstGeom prst="roundRect">
            <a:avLst>
              <a:gd name="adj" fmla="val 28000"/>
            </a:avLst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sandbox + firewall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736592" y="3447287"/>
            <a:ext cx="1591056" cy="219456"/>
          </a:xfrm>
          <a:prstGeom prst="roundRect">
            <a:avLst>
              <a:gd name="adj" fmla="val 28000"/>
            </a:avLst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sovereignty proof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10040112" y="3447287"/>
            <a:ext cx="1591056" cy="219456"/>
          </a:xfrm>
          <a:prstGeom prst="roundRect">
            <a:avLst>
              <a:gd name="adj" fmla="val 28000"/>
            </a:avLst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Calibri"/>
              </a:rPr>
              <a:t>harden + rehearse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548640" y="3675887"/>
            <a:ext cx="11109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1F3864"/>
                </a:solidFill>
                <a:latin typeface="Calibri"/>
              </a:rPr>
              <a:t>GATES:  </a:t>
            </a:r>
            <a:r>
              <a:rPr sz="830" b="0" i="0">
                <a:solidFill>
                  <a:srgbClr val="242F3B"/>
                </a:solidFill>
                <a:latin typeface="Calibri"/>
              </a:rPr>
              <a:t>H6 models respond · H11 agent completes a task · H18 SOP-grounded answer · H22 sandbox self-corrects · H31 flagship end-to-end · H36 rehearsed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411480" y="3968496"/>
            <a:ext cx="367284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1F3864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Rounded Rectangle 17447"/>
          <p:cNvSpPr/>
          <p:nvPr/>
        </p:nvSpPr>
        <p:spPr>
          <a:xfrm>
            <a:off x="411480" y="3968496"/>
            <a:ext cx="3672840" cy="310896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539496" y="3968496"/>
            <a:ext cx="341680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HARDWARE — it fits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557784" y="4370832"/>
            <a:ext cx="339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•  </a:t>
            </a:r>
            <a:r>
              <a:rPr sz="900" b="0" i="0">
                <a:solidFill>
                  <a:srgbClr val="242F3B"/>
                </a:solidFill>
                <a:latin typeface="Calibri"/>
              </a:rPr>
              <a:t>1 mid-range GPU, 12–16 GB (RTX 4070 / 4080 / 3060-12G)</a:t>
            </a: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•  </a:t>
            </a:r>
            <a:r>
              <a:rPr sz="900" b="0" i="0">
                <a:solidFill>
                  <a:srgbClr val="242F3B"/>
                </a:solidFill>
                <a:latin typeface="Calibri"/>
              </a:rPr>
              <a:t>7B trio at Q4, hot-swapped one at a time; embeddings + OCR resident</a:t>
            </a: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•  </a:t>
            </a:r>
            <a:r>
              <a:rPr sz="900" b="0" i="0">
                <a:solidFill>
                  <a:srgbClr val="242F3B"/>
                </a:solidFill>
                <a:latin typeface="Calibri"/>
              </a:rPr>
              <a:t>LOW 6–8 GB &amp; HIGH 24 GB profiles — same design scales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4267200" y="3968496"/>
            <a:ext cx="367284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10745F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ounded Rectangle 17451"/>
          <p:cNvSpPr/>
          <p:nvPr/>
        </p:nvSpPr>
        <p:spPr>
          <a:xfrm>
            <a:off x="4267200" y="3968496"/>
            <a:ext cx="3672840" cy="310896"/>
          </a:xfrm>
          <a:prstGeom prst="roundRect">
            <a:avLst>
              <a:gd name="adj" fmla="val 5000"/>
            </a:avLst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4395216" y="3968496"/>
            <a:ext cx="341680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OPEN-WEIGHT &amp; OFFLINE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4413504" y="4370832"/>
            <a:ext cx="339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900" b="1" i="0">
                <a:solidFill>
                  <a:srgbClr val="10745F"/>
                </a:solidFill>
                <a:latin typeface="Calibri"/>
              </a:rPr>
              <a:t>•  </a:t>
            </a:r>
            <a:r>
              <a:rPr sz="900" b="0" i="0">
                <a:solidFill>
                  <a:srgbClr val="242F3B"/>
                </a:solidFill>
                <a:latin typeface="Calibri"/>
              </a:rPr>
              <a:t>All models open-weight (Qwen, Apache-2.0) — ₹0 licensing, no per-token cost</a:t>
            </a: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900" b="1" i="0">
                <a:solidFill>
                  <a:srgbClr val="10745F"/>
                </a:solidFill>
                <a:latin typeface="Calibri"/>
              </a:rPr>
              <a:t>•  </a:t>
            </a:r>
            <a:r>
              <a:rPr sz="900" b="0" i="0">
                <a:solidFill>
                  <a:srgbClr val="242F3B"/>
                </a:solidFill>
                <a:latin typeface="Calibri"/>
              </a:rPr>
              <a:t>Runs fully with the NIC down — no external dependency at inference</a:t>
            </a: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900" b="1" i="0">
                <a:solidFill>
                  <a:srgbClr val="10745F"/>
                </a:solidFill>
                <a:latin typeface="Calibri"/>
              </a:rPr>
              <a:t>•  </a:t>
            </a:r>
            <a:r>
              <a:rPr sz="900" b="0" i="0">
                <a:solidFill>
                  <a:srgbClr val="242F3B"/>
                </a:solidFill>
                <a:latin typeface="Calibri"/>
              </a:rPr>
              <a:t>Modular registry — add a model without a redesign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8122920" y="3968496"/>
            <a:ext cx="367284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B9770B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Rounded Rectangle 17455"/>
          <p:cNvSpPr/>
          <p:nvPr/>
        </p:nvSpPr>
        <p:spPr>
          <a:xfrm>
            <a:off x="8122920" y="3968496"/>
            <a:ext cx="3672840" cy="310896"/>
          </a:xfrm>
          <a:prstGeom prst="roundRect">
            <a:avLst>
              <a:gd name="adj" fmla="val 5000"/>
            </a:avLst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8250936" y="3968496"/>
            <a:ext cx="341680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KEY RISKS → MITIGATION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8269224" y="4370832"/>
            <a:ext cx="339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900" b="1" i="0">
                <a:solidFill>
                  <a:srgbClr val="B9770B"/>
                </a:solidFill>
                <a:latin typeface="Calibri"/>
              </a:rPr>
              <a:t>•  </a:t>
            </a:r>
            <a:r>
              <a:rPr sz="900" b="0" i="0">
                <a:solidFill>
                  <a:srgbClr val="242F3B"/>
                </a:solidFill>
                <a:latin typeface="Calibri"/>
              </a:rPr>
              <a:t>GPU OOM → Q4 + hot-swap + smaller-model fallback</a:t>
            </a: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900" b="1" i="0">
                <a:solidFill>
                  <a:srgbClr val="B9770B"/>
                </a:solidFill>
                <a:latin typeface="Calibri"/>
              </a:rPr>
              <a:t>•  </a:t>
            </a:r>
            <a:r>
              <a:rPr sz="900" b="0" i="0">
                <a:solidFill>
                  <a:srgbClr val="242F3B"/>
                </a:solidFill>
                <a:latin typeface="Calibri"/>
              </a:rPr>
              <a:t>Stage latency → pre-warm + cached embeddings</a:t>
            </a: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900" b="1" i="0">
                <a:solidFill>
                  <a:srgbClr val="B9770B"/>
                </a:solidFill>
                <a:latin typeface="Calibri"/>
              </a:rPr>
              <a:t>•  </a:t>
            </a:r>
            <a:r>
              <a:rPr sz="900" b="0" i="0">
                <a:solidFill>
                  <a:srgbClr val="242F3B"/>
                </a:solidFill>
                <a:latin typeface="Calibri"/>
              </a:rPr>
              <a:t>Agent loops → bounded retries + hard stop</a:t>
            </a:r>
          </a:p>
          <a:p>
            <a:pPr algn="l">
              <a:lnSpc>
                <a:spcPct val="98000"/>
              </a:lnSpc>
              <a:spcAft>
                <a:spcPts val="300"/>
              </a:spcAft>
            </a:pPr>
            <a:r>
              <a:rPr sz="900" b="1" i="0">
                <a:solidFill>
                  <a:srgbClr val="B9770B"/>
                </a:solidFill>
                <a:latin typeface="Calibri"/>
              </a:rPr>
              <a:t>•  </a:t>
            </a:r>
            <a:r>
              <a:rPr sz="900" b="0" i="0">
                <a:solidFill>
                  <a:srgbClr val="242F3B"/>
                </a:solidFill>
                <a:latin typeface="Calibri"/>
              </a:rPr>
              <a:t>Demo fumble → rehearsed cable-pull + recorded backup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11480" y="563270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00" b="1" i="0">
                <a:solidFill>
                  <a:srgbClr val="1F3864"/>
                </a:solidFill>
                <a:latin typeface="Calibri"/>
              </a:rPr>
              <a:t>SCOPE
CONTROL</a:t>
            </a:r>
          </a:p>
        </p:txBody>
      </p:sp>
      <p:sp>
        <p:nvSpPr>
          <p:cNvPr id="17460" name="Chevron 17459"/>
          <p:cNvSpPr/>
          <p:nvPr/>
        </p:nvSpPr>
        <p:spPr>
          <a:xfrm>
            <a:off x="1783080" y="5650992"/>
            <a:ext cx="3252216" cy="457200"/>
          </a:xfrm>
          <a:prstGeom prst="chevron">
            <a:avLst>
              <a:gd name="adj" fmla="val 50000"/>
            </a:avLst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MVP · 36 h</a:t>
            </a:r>
          </a:p>
          <a:p>
            <a:pPr algn="ctr">
              <a:spcAft>
                <a:spcPts val="0"/>
              </a:spcAft>
            </a:pPr>
            <a:r>
              <a:rPr sz="780" b="0" i="0">
                <a:solidFill>
                  <a:srgbClr val="FFFFFF"/>
                </a:solidFill>
                <a:latin typeface="Calibri"/>
              </a:rPr>
              <a:t>flagship report→note · coding self-fix · live sovereignty proof</a:t>
            </a:r>
          </a:p>
        </p:txBody>
      </p:sp>
      <p:sp>
        <p:nvSpPr>
          <p:cNvPr id="17461" name="Chevron 17460"/>
          <p:cNvSpPr/>
          <p:nvPr/>
        </p:nvSpPr>
        <p:spPr>
          <a:xfrm>
            <a:off x="5163312" y="5650992"/>
            <a:ext cx="3252216" cy="457200"/>
          </a:xfrm>
          <a:prstGeom prst="chevron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V1</a:t>
            </a:r>
          </a:p>
          <a:p>
            <a:pPr algn="ctr">
              <a:spcAft>
                <a:spcPts val="0"/>
              </a:spcAft>
            </a:pPr>
            <a:r>
              <a:rPr sz="780" b="0" i="0">
                <a:solidFill>
                  <a:srgbClr val="FFFFFF"/>
                </a:solidFill>
                <a:latin typeface="Calibri"/>
              </a:rPr>
              <a:t>full multimodal · reranker · XLSX / PPTX · audit export</a:t>
            </a:r>
          </a:p>
        </p:txBody>
      </p:sp>
      <p:sp>
        <p:nvSpPr>
          <p:cNvPr id="17462" name="Chevron 17461"/>
          <p:cNvSpPr/>
          <p:nvPr/>
        </p:nvSpPr>
        <p:spPr>
          <a:xfrm>
            <a:off x="8543544" y="5650992"/>
            <a:ext cx="3252216" cy="457200"/>
          </a:xfrm>
          <a:prstGeom prst="chevron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ENTERPRISE</a:t>
            </a:r>
          </a:p>
          <a:p>
            <a:pPr algn="ctr">
              <a:spcAft>
                <a:spcPts val="0"/>
              </a:spcAft>
            </a:pPr>
            <a:r>
              <a:rPr sz="780" b="0" i="0">
                <a:solidFill>
                  <a:srgbClr val="FFFFFF"/>
                </a:solidFill>
                <a:latin typeface="Calibri"/>
              </a:rPr>
              <a:t>GPU worker pool · RBAC · SSO · central audit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&amp;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Nebula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43584"/>
            <a:ext cx="11384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C6B7A"/>
                </a:solidFill>
                <a:latin typeface="Calibri"/>
              </a:rPr>
              <a:t>From slow &amp; siloed to grounded &amp; governed — a scanned report becomes a cited, human-approved note, on-site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719072"/>
            <a:ext cx="11384280" cy="859536"/>
          </a:xfrm>
          <a:prstGeom prst="roundRect">
            <a:avLst>
              <a:gd name="adj" fmla="val 3000"/>
            </a:avLst>
          </a:prstGeom>
          <a:solidFill>
            <a:srgbClr val="FAEBE8"/>
          </a:solidFill>
          <a:ln w="9525">
            <a:solidFill>
              <a:srgbClr val="E4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66928" y="1792224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CURRENT · manual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9966960" y="179222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23A2E"/>
                </a:solidFill>
                <a:latin typeface="Calibri"/>
              </a:rPr>
              <a:t>~40 min / report*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66928" y="2103120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B23A2E"/>
                </a:solidFill>
                <a:latin typeface="Calibri"/>
              </a:rPr>
              <a:t>1  Locate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shared drives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436876" y="2103120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B23A2E"/>
                </a:solidFill>
                <a:latin typeface="Calibri"/>
              </a:rPr>
              <a:t>2  Read scan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by hand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306824" y="2103120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B23A2E"/>
                </a:solidFill>
                <a:latin typeface="Calibri"/>
              </a:rPr>
              <a:t>3  Search SOP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binders / PDFs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76772" y="2103120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B23A2E"/>
                </a:solidFill>
                <a:latin typeface="Calibri"/>
              </a:rPr>
              <a:t>4  Cross-check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values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046719" y="2103120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B23A2E"/>
                </a:solidFill>
                <a:latin typeface="Calibri"/>
              </a:rPr>
              <a:t>5  Draft note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in Word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916667" y="2103120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B23A2E"/>
                </a:solidFill>
                <a:latin typeface="Calibri"/>
              </a:rPr>
              <a:t>6  Route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for approval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2292400" y="2313432"/>
            <a:ext cx="133503" cy="0"/>
          </a:xfrm>
          <a:prstGeom prst="line">
            <a:avLst/>
          </a:prstGeom>
          <a:ln w="17780">
            <a:solidFill>
              <a:srgbClr val="C08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4162348" y="2313432"/>
            <a:ext cx="133503" cy="0"/>
          </a:xfrm>
          <a:prstGeom prst="line">
            <a:avLst/>
          </a:prstGeom>
          <a:ln w="17780">
            <a:solidFill>
              <a:srgbClr val="C08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6032296" y="2313432"/>
            <a:ext cx="133503" cy="0"/>
          </a:xfrm>
          <a:prstGeom prst="line">
            <a:avLst/>
          </a:prstGeom>
          <a:ln w="17780">
            <a:solidFill>
              <a:srgbClr val="C08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>
            <a:off x="7902244" y="2313432"/>
            <a:ext cx="133503" cy="0"/>
          </a:xfrm>
          <a:prstGeom prst="line">
            <a:avLst/>
          </a:prstGeom>
          <a:ln w="17780">
            <a:solidFill>
              <a:srgbClr val="C08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4" name="Connector 17423"/>
          <p:cNvCxnSpPr/>
          <p:nvPr/>
        </p:nvCxnSpPr>
        <p:spPr>
          <a:xfrm>
            <a:off x="9772192" y="2313432"/>
            <a:ext cx="133503" cy="0"/>
          </a:xfrm>
          <a:prstGeom prst="line">
            <a:avLst/>
          </a:prstGeom>
          <a:ln w="17780">
            <a:solidFill>
              <a:srgbClr val="C08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5074920" y="2670048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↓  PRAHARÍ automates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11480" y="3017520"/>
            <a:ext cx="11384280" cy="859536"/>
          </a:xfrm>
          <a:prstGeom prst="roundRect">
            <a:avLst>
              <a:gd name="adj" fmla="val 3000"/>
            </a:avLst>
          </a:prstGeom>
          <a:solidFill>
            <a:srgbClr val="E3F2ED"/>
          </a:solidFill>
          <a:ln w="11430">
            <a:solidFill>
              <a:srgbClr val="10745F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566928" y="3090672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WITH PRAHARÍ · agentic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9829800" y="3090672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74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745F"/>
                </a:solidFill>
                <a:latin typeface="Calibri"/>
              </a:rPr>
              <a:t>minutes / report*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66928" y="3401568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10745F"/>
                </a:solidFill>
                <a:latin typeface="Calibri"/>
              </a:rPr>
              <a:t>1  Upload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one action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2436876" y="3401568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10745F"/>
                </a:solidFill>
                <a:latin typeface="Calibri"/>
              </a:rPr>
              <a:t>2  Route + OCR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VL · PaddleOCR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306824" y="3401568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10745F"/>
                </a:solidFill>
                <a:latin typeface="Calibri"/>
              </a:rPr>
              <a:t>3  SOP cited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retrieved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176772" y="3401568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10745F"/>
                </a:solidFill>
                <a:latin typeface="Calibri"/>
              </a:rPr>
              <a:t>4  Analyze + calc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deterministic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8046719" y="3401568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10745F"/>
                </a:solidFill>
                <a:latin typeface="Calibri"/>
              </a:rPr>
              <a:t>5  DOCX draft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AI-drafted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9916667" y="3401568"/>
            <a:ext cx="17145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30" b="1" i="0">
                <a:solidFill>
                  <a:srgbClr val="10745F"/>
                </a:solidFill>
                <a:latin typeface="Calibri"/>
              </a:rPr>
              <a:t>6  Human approves</a:t>
            </a:r>
          </a:p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700" b="0" i="0">
                <a:solidFill>
                  <a:srgbClr val="5C6B7A"/>
                </a:solidFill>
                <a:latin typeface="Calibri"/>
              </a:rPr>
              <a:t>in the loop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2292400" y="3611880"/>
            <a:ext cx="133503" cy="0"/>
          </a:xfrm>
          <a:prstGeom prst="line">
            <a:avLst/>
          </a:prstGeom>
          <a:ln w="17780">
            <a:solidFill>
              <a:srgbClr val="1B9E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6" name="Connector 17435"/>
          <p:cNvCxnSpPr/>
          <p:nvPr/>
        </p:nvCxnSpPr>
        <p:spPr>
          <a:xfrm>
            <a:off x="4162348" y="3611880"/>
            <a:ext cx="133503" cy="0"/>
          </a:xfrm>
          <a:prstGeom prst="line">
            <a:avLst/>
          </a:prstGeom>
          <a:ln w="17780">
            <a:solidFill>
              <a:srgbClr val="1B9E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Connector 17436"/>
          <p:cNvCxnSpPr/>
          <p:nvPr/>
        </p:nvCxnSpPr>
        <p:spPr>
          <a:xfrm>
            <a:off x="6032296" y="3611880"/>
            <a:ext cx="133503" cy="0"/>
          </a:xfrm>
          <a:prstGeom prst="line">
            <a:avLst/>
          </a:prstGeom>
          <a:ln w="17780">
            <a:solidFill>
              <a:srgbClr val="1B9E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8" name="Connector 17437"/>
          <p:cNvCxnSpPr/>
          <p:nvPr/>
        </p:nvCxnSpPr>
        <p:spPr>
          <a:xfrm>
            <a:off x="7902244" y="3611880"/>
            <a:ext cx="133503" cy="0"/>
          </a:xfrm>
          <a:prstGeom prst="line">
            <a:avLst/>
          </a:prstGeom>
          <a:ln w="17780">
            <a:solidFill>
              <a:srgbClr val="1B9E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9" name="Connector 17438"/>
          <p:cNvCxnSpPr/>
          <p:nvPr/>
        </p:nvCxnSpPr>
        <p:spPr>
          <a:xfrm>
            <a:off x="9772192" y="3611880"/>
            <a:ext cx="133503" cy="0"/>
          </a:xfrm>
          <a:prstGeom prst="line">
            <a:avLst/>
          </a:prstGeom>
          <a:ln w="17780">
            <a:solidFill>
              <a:srgbClr val="1B9E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411480" y="4078224"/>
            <a:ext cx="5532120" cy="17739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411480" y="4078224"/>
            <a:ext cx="5532120" cy="329184"/>
          </a:xfrm>
          <a:prstGeom prst="roundRect">
            <a:avLst>
              <a:gd name="adj" fmla="val 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566928" y="4078224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WHERE IT HELPS AT MRPL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03504" y="4498848"/>
            <a:ext cx="2592324" cy="402336"/>
          </a:xfrm>
          <a:prstGeom prst="roundRect">
            <a:avLst>
              <a:gd name="adj" fmla="val 14000"/>
            </a:avLst>
          </a:prstGeom>
          <a:solidFill>
            <a:srgbClr val="F1F7FC"/>
          </a:solidFill>
          <a:ln w="762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1F3864"/>
                </a:solidFill>
                <a:latin typeface="Calibri"/>
              </a:rPr>
              <a:t>Inspection &amp; maintenance reports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3342132" y="4498848"/>
            <a:ext cx="2592324" cy="402336"/>
          </a:xfrm>
          <a:prstGeom prst="roundRect">
            <a:avLst>
              <a:gd name="adj" fmla="val 14000"/>
            </a:avLst>
          </a:prstGeom>
          <a:solidFill>
            <a:srgbClr val="F1F7FC"/>
          </a:solidFill>
          <a:ln w="762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1F3864"/>
                </a:solidFill>
                <a:latin typeface="Calibri"/>
              </a:rPr>
              <a:t>Engineering docs &amp; P&amp;ID lookup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03504" y="4956048"/>
            <a:ext cx="2592324" cy="402336"/>
          </a:xfrm>
          <a:prstGeom prst="roundRect">
            <a:avLst>
              <a:gd name="adj" fmla="val 14000"/>
            </a:avLst>
          </a:prstGeom>
          <a:solidFill>
            <a:srgbClr val="F1F7FC"/>
          </a:solidFill>
          <a:ln w="762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1F3864"/>
                </a:solidFill>
                <a:latin typeface="Calibri"/>
              </a:rPr>
              <a:t>SOP / manual search + Q&amp;A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3342132" y="4956048"/>
            <a:ext cx="2592324" cy="402336"/>
          </a:xfrm>
          <a:prstGeom prst="roundRect">
            <a:avLst>
              <a:gd name="adj" fmla="val 14000"/>
            </a:avLst>
          </a:prstGeom>
          <a:solidFill>
            <a:srgbClr val="F1F7FC"/>
          </a:solidFill>
          <a:ln w="762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1F3864"/>
                </a:solidFill>
                <a:latin typeface="Calibri"/>
              </a:rPr>
              <a:t>Approval &amp; compliance notes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03504" y="5413248"/>
            <a:ext cx="2592324" cy="402336"/>
          </a:xfrm>
          <a:prstGeom prst="roundRect">
            <a:avLst>
              <a:gd name="adj" fmla="val 14000"/>
            </a:avLst>
          </a:prstGeom>
          <a:solidFill>
            <a:srgbClr val="F1F7FC"/>
          </a:solidFill>
          <a:ln w="762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1F3864"/>
                </a:solidFill>
                <a:latin typeface="Calibri"/>
              </a:rPr>
              <a:t>Internal coding &amp; automation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342132" y="5413248"/>
            <a:ext cx="2592324" cy="402336"/>
          </a:xfrm>
          <a:prstGeom prst="roundRect">
            <a:avLst>
              <a:gd name="adj" fmla="val 14000"/>
            </a:avLst>
          </a:prstGeom>
          <a:solidFill>
            <a:srgbClr val="F1F7FC"/>
          </a:solidFill>
          <a:ln w="762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1F3864"/>
                </a:solidFill>
                <a:latin typeface="Calibri"/>
              </a:rPr>
              <a:t>Spreadsheets &amp; technical reports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6263640" y="4078224"/>
            <a:ext cx="5532120" cy="17739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6E2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Rounded Rectangle 17449"/>
          <p:cNvSpPr/>
          <p:nvPr/>
        </p:nvSpPr>
        <p:spPr>
          <a:xfrm>
            <a:off x="6263640" y="4078224"/>
            <a:ext cx="5532120" cy="329184"/>
          </a:xfrm>
          <a:prstGeom prst="roundRect">
            <a:avLst>
              <a:gd name="adj" fmla="val 4000"/>
            </a:avLst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6419088" y="4078224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MRPL GAINS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446520" y="448056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745F"/>
                </a:solidFill>
                <a:latin typeface="Calibri"/>
              </a:rPr>
              <a:t>✓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720840" y="4480560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3864"/>
                </a:solidFill>
                <a:latin typeface="Calibri"/>
              </a:rPr>
              <a:t>Confidentiality preserved — </a:t>
            </a:r>
            <a:r>
              <a:rPr sz="880" b="0" i="0">
                <a:solidFill>
                  <a:srgbClr val="242F3B"/>
                </a:solidFill>
                <a:latin typeface="Calibri"/>
              </a:rPr>
              <a:t>data never leaves the perimeter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446520" y="470458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745F"/>
                </a:solidFill>
                <a:latin typeface="Calibri"/>
              </a:rPr>
              <a:t>✓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6720840" y="4704588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3864"/>
                </a:solidFill>
                <a:latin typeface="Calibri"/>
              </a:rPr>
              <a:t>Source-grounded outputs — </a:t>
            </a:r>
            <a:r>
              <a:rPr sz="880" b="0" i="0">
                <a:solidFill>
                  <a:srgbClr val="242F3B"/>
                </a:solidFill>
                <a:latin typeface="Calibri"/>
              </a:rPr>
              <a:t>answers cite the org's own SOPs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446520" y="4928616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745F"/>
                </a:solidFill>
                <a:latin typeface="Calibri"/>
              </a:rPr>
              <a:t>✓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6720840" y="4928616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3864"/>
                </a:solidFill>
                <a:latin typeface="Calibri"/>
              </a:rPr>
              <a:t>Traceable &amp; audited — </a:t>
            </a:r>
            <a:r>
              <a:rPr sz="880" b="0" i="0">
                <a:solidFill>
                  <a:srgbClr val="242F3B"/>
                </a:solidFill>
                <a:latin typeface="Calibri"/>
              </a:rPr>
              <a:t>every step in a hash-chained log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6446520" y="515264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745F"/>
                </a:solidFill>
                <a:latin typeface="Calibri"/>
              </a:rPr>
              <a:t>✓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6720840" y="5152644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3864"/>
                </a:solidFill>
                <a:latin typeface="Calibri"/>
              </a:rPr>
              <a:t>Human-in-the-loop — </a:t>
            </a:r>
            <a:r>
              <a:rPr sz="880" b="0" i="0">
                <a:solidFill>
                  <a:srgbClr val="242F3B"/>
                </a:solidFill>
                <a:latin typeface="Calibri"/>
              </a:rPr>
              <a:t>AI drafts; people decide &amp; approve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6446520" y="5376672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745F"/>
                </a:solidFill>
                <a:latin typeface="Calibri"/>
              </a:rPr>
              <a:t>✓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6720840" y="5376672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3864"/>
                </a:solidFill>
                <a:latin typeface="Calibri"/>
              </a:rPr>
              <a:t>Scales across departments — </a:t>
            </a:r>
            <a:r>
              <a:rPr sz="880" b="0" i="0">
                <a:solidFill>
                  <a:srgbClr val="242F3B"/>
                </a:solidFill>
                <a:latin typeface="Calibri"/>
              </a:rPr>
              <a:t>same box, many document types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6446520" y="560070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745F"/>
                </a:solidFill>
                <a:latin typeface="Calibri"/>
              </a:rPr>
              <a:t>✓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6720840" y="5600700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3864"/>
                </a:solidFill>
                <a:latin typeface="Calibri"/>
              </a:rPr>
              <a:t>₹0 per-token cost — </a:t>
            </a:r>
            <a:r>
              <a:rPr sz="880" b="0" i="0">
                <a:solidFill>
                  <a:srgbClr val="242F3B"/>
                </a:solidFill>
                <a:latin typeface="Calibri"/>
              </a:rPr>
              <a:t>open-weight, one-time hardware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411480" y="5943600"/>
            <a:ext cx="11384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5C6B7A"/>
                </a:solidFill>
                <a:latin typeface="Calibri"/>
              </a:rPr>
              <a:t>*Time figures are illustrative planning assumptions from the project strategy, not measured MRPL data; other benefits are qualitative.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Nebula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43584"/>
            <a:ext cx="11384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C6B7A"/>
                </a:solidFill>
                <a:latin typeface="Calibri"/>
              </a:rPr>
              <a:t>Grounded in established research and widely-used open tooling — each source maps to the subsystem it powers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755648"/>
            <a:ext cx="364845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0070C0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755648"/>
            <a:ext cx="3648456" cy="384048"/>
          </a:xfrm>
          <a:prstGeom prst="roundRect">
            <a:avLst>
              <a:gd name="adj" fmla="val 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39496" y="1755648"/>
            <a:ext cx="3392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AGENTIC REASONING &amp; TOOL USE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57784" y="2212848"/>
            <a:ext cx="3355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ReAct — reasoning + acting in LLMs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Yao et al., 2022 · arXiv:2210.03629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Toolformer — LLMs learn to use tools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Schick et al., 2023 · arXiv:2302.04761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57784" y="3200400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1">
                <a:solidFill>
                  <a:srgbClr val="0070C0"/>
                </a:solidFill>
                <a:latin typeface="Calibri"/>
              </a:rPr>
              <a:t>powers: agent loop · tool gateway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279392" y="1755648"/>
            <a:ext cx="364845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10745F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279392" y="1755648"/>
            <a:ext cx="3648456" cy="384048"/>
          </a:xfrm>
          <a:prstGeom prst="roundRect">
            <a:avLst>
              <a:gd name="adj" fmla="val 5000"/>
            </a:avLst>
          </a:prstGeom>
          <a:solidFill>
            <a:srgbClr val="107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4407407" y="1755648"/>
            <a:ext cx="3392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425696" y="2212848"/>
            <a:ext cx="3355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RAG for knowledge-intensive NLP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Lewis et al., 2020 · arXiv:2005.11401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Dense Passage Retrieval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Karpukhin et al., 2020 · arXiv:2004.04906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425696" y="3200400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1">
                <a:solidFill>
                  <a:srgbClr val="10745F"/>
                </a:solidFill>
                <a:latin typeface="Calibri"/>
              </a:rPr>
              <a:t>powers: local RAG · grounded citations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147303" y="1755648"/>
            <a:ext cx="364845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2E75B6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8147303" y="1755648"/>
            <a:ext cx="3648456" cy="384048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275319" y="1755648"/>
            <a:ext cx="3392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OPEN-WEIGHT MULTIMODAL LLMs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293607" y="2212848"/>
            <a:ext cx="3355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Qwen2.5 · Qwen2.5-Coder · Qwen2.5-VL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Qwen Team, Alibaba (Apache-2.0)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Open weights &amp; model cards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github.com/QwenLM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293607" y="3200400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1">
                <a:solidFill>
                  <a:srgbClr val="2E75B6"/>
                </a:solidFill>
                <a:latin typeface="Calibri"/>
              </a:rPr>
              <a:t>powers: reasoning · code · vision · routing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11480" y="3621024"/>
            <a:ext cx="364845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1B9E7C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411480" y="3621024"/>
            <a:ext cx="3648456" cy="384048"/>
          </a:xfrm>
          <a:prstGeom prst="roundRect">
            <a:avLst>
              <a:gd name="adj" fmla="val 5000"/>
            </a:avLst>
          </a:prstGeom>
          <a:solidFill>
            <a:srgbClr val="1B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539496" y="3621024"/>
            <a:ext cx="3392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LOCAL EMBEDDINGS &amp; OCR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57784" y="4078224"/>
            <a:ext cx="3355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BGE-M3 multilingual embeddings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Chen et al., 2024 · arXiv:2402.03216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PaddleOCR toolkit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github.com/PaddlePaddle/PaddleOCR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57784" y="5065776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1">
                <a:solidFill>
                  <a:srgbClr val="1B9E7C"/>
                </a:solidFill>
                <a:latin typeface="Calibri"/>
              </a:rPr>
              <a:t>powers: retrieval · document ingestion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279392" y="3621024"/>
            <a:ext cx="364845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B9770B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4279392" y="3621024"/>
            <a:ext cx="3648456" cy="384048"/>
          </a:xfrm>
          <a:prstGeom prst="roundRect">
            <a:avLst>
              <a:gd name="adj" fmla="val 5000"/>
            </a:avLst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4407407" y="3621024"/>
            <a:ext cx="3392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AI SECURITY &amp; SAFE EXECUTION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425696" y="4078224"/>
            <a:ext cx="3355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OWASP Top 10 for LLM Applications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2025 · genai.owasp.org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Docker network isolation (net=none)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docs.docker.com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425696" y="5065776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1">
                <a:solidFill>
                  <a:srgbClr val="B9770B"/>
                </a:solidFill>
                <a:latin typeface="Calibri"/>
              </a:rPr>
              <a:t>powers: sovereignty · sandbox · injection defence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147303" y="3621024"/>
            <a:ext cx="364845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1F3864"/>
            </a:solidFill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8147303" y="3621024"/>
            <a:ext cx="3648456" cy="384048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8275319" y="3621024"/>
            <a:ext cx="3392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LOCAL INFERENCE &amp; VECTOR SEARCH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293607" y="4078224"/>
            <a:ext cx="3355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Ollama — local model serving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github.com/ollama/ollama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69" b="1" i="0">
                <a:solidFill>
                  <a:srgbClr val="242F3B"/>
                </a:solidFill>
                <a:latin typeface="Calibri"/>
              </a:rPr>
              <a:t>Qdrant — vector database</a:t>
            </a:r>
          </a:p>
          <a:p>
            <a:pPr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819" b="0" i="0">
                <a:solidFill>
                  <a:srgbClr val="5C6B7A"/>
                </a:solidFill>
                <a:latin typeface="Calibri"/>
              </a:rPr>
              <a:t>qdrant.tech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293607" y="5065776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1">
                <a:solidFill>
                  <a:srgbClr val="1F3864"/>
                </a:solidFill>
                <a:latin typeface="Calibri"/>
              </a:rPr>
              <a:t>powers: hot-swap runtime · vector search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411480" y="5541264"/>
            <a:ext cx="11384280" cy="603504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>
            <a:outerShdw blurRad="50292" dist="25603" dir="5400000" rotWithShape="0">
              <a:srgbClr val="9AA9B8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D24D"/>
                </a:solidFill>
                <a:latin typeface="Calibri"/>
              </a:rPr>
              <a:t>PRIMARY SOURCE   </a:t>
            </a:r>
            <a:r>
              <a:rPr sz="950" b="1" i="0">
                <a:solidFill>
                  <a:srgbClr val="FFFFFF"/>
                </a:solidFill>
                <a:latin typeface="Calibri"/>
              </a:rPr>
              <a:t>Problem Statement SIH26117 — “Sovereign On-Premise Agentic AI Workbench…”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C9D6EA"/>
                </a:solidFill>
                <a:latin typeface="Calibri"/>
              </a:rPr>
              <a:t>Mangalore Refinery &amp; Petrochemicals Ltd (MRPL)  ·  Smart India Hackathon 2026  ·  sih.gov.in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